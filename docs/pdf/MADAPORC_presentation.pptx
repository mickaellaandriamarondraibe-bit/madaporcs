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9D38976-461F-4F57-8280-8C7B7C9B6462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Bonjour. Nous présentons MADAPORC, un système intelligent de suivi, de traçabilité et d'aide à la décision reproductive pour l'élevage porcin. Ce n'est pas qu'un logiciel de gestion : il analyse les performances reproductives et recommande de garder ou de réformer les femelles.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0E8517-0BA9-47F4-9AE6-45C9CFA42F2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Dans beaucoup d'exploitations, les données sont gérées manuellement ou dans des fichiers séparés. Résultat : perte d'historique, manque de traçabilité, suivi des reproducteurs difficile, réformes mal anticipées et rentabilité en baisse. Le besoin : centraliser, tracer et aider à décider.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E8CA74-A369-4F9A-B5D3-8A0B9C74497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MADAPORC va au-delà de l'enregistrement : il analyse et il recommande. Trois piliers, directement repris dans le titre du projet : le suivi et la traçabilité, l'aide à la décision reproductive, et le pilotage via tableau de bord, alertes et rapports.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147F47-4DAE-4277-B0B3-B74DD4F321F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 modules couvrent l'exploitation : le cheptel, la reproduction — qui inclut l'analyse d'aptitude, la santé, le commerce, les stocks et finances, et le tableau de bord. Deux rôles : administrateur et gestionnaire, avec des accès contrôlés.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38399E-1451-4A6B-AA8D-836F9C17A9A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Voici le cœur du projet : l'analyse reproductive. Pour chaque lot de femelles, le système calcule l'âge reproductif réel, les taux d'aptitude et de fertilité, la répartition par statut, et surtout produit une recommandation : apte à la reproduction, à surveiller, ou réforme recommandée. C'est ce qui aide concrètement l'éleveur à décider, et qui améliore la productivité.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63DC83-E153-457E-83EE-DCA26911604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L'application suit tout le cycle de vie : d'un lot de porcs à la reproduction, qui crée des lots de naissance, puis l'engraissement et la vente. Chaque étape est tracée et met à jour automatiquement l'effectif. On peut retracer complètement l'histoire d'un lot.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5D198E-1B3F-4A86-8EA7-07F850C9B8B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Au-delà du cœur métier, l'application offre un tableau de bord visuel, des alertes de reproduction automatiques avec e-mail récapitulatif, des notifications en temps réel, un import/export qui passe par la logique métier avec rapport de rejets, des rapports PDF, et une recherche avancée.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83AB10-2207-4626-B9A0-733A3129746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Techniquement : une architecture en couches. Présentation en JSP, métier avec Spring Boot MVC — 24 contrôleurs et 30 services, données dans PostgreSQL via JPA. En transverse : authentification par rôle, notifications SSE et e-mail, tâches planifiées pour les alertes, et gestion globale des erreurs.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305281-E3EF-4064-A1DD-145BDA0BA2A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Passons à la démonstration : création d'un lot, gestion d'une reproduction jusqu'à la mise bas, puis l'analyse reproductive avec sa recommandation — le point clé. Ensuite une vente avec reçu PDF, le tableau de bord qui se met à jour, et enfin l'import/export.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DD6AFC-F913-497E-913F-2F6EC005D9E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Pour conclure : MADAPORC assure la traçabilité complète, produit une recommandation reproductive automatique, et offre alertes, rapports et tableau de bord ; le tout fonctionnel et testé. Perspectives : version mobile, multi-élevages, statistiques prédictives. Merci, place aux questions.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968685-EE30-4D08-A545-382B63699B6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046310-829F-4F5A-9C0D-7A188D0BCE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E4C374-6C72-4B0F-9D14-E7752AC653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F663857-763D-4EC0-9A5C-57C611025F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243CE60-2BB2-4484-A46A-A4E6921114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A315DF0-7B43-4E1D-AF94-4A8C2BEBF1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C04EB82-402E-4285-A551-4EFE5EBC6F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87F1A12-9815-4BF7-8028-1789A81E2C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058E83B-DD5C-4634-BC54-FB941A1D41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361DD11-A74A-44DA-8155-2D51075BA0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C8C5861-8E99-4EDE-87B1-2B66A20909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1766404-6071-4287-B53C-AEEF658849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1942EB-DB5B-4995-85C6-5D35AF3243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84DDF7-814E-4DCB-AE40-3F9B9CCFDD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577A3E-61AD-43A6-A58C-28080A5A5D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608ED5-0DFA-44D4-9208-A4E4D2993C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FE467D9-9203-4BE7-94A9-4F4F699BEF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6FF368-A923-4E38-8928-0697B1D594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1E7979-7CF6-455E-8A89-89FB67E8E2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031004-5DEB-4E15-867D-C8A878175A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0F266B-3E4D-4692-96F3-21156DD0CD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525F5E-B28C-4D7B-ADDC-4B9638E59D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56229D-F982-4969-842B-894715F524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Rounded Rectangle 4"/>
          <p:cNvSpPr/>
          <p:nvPr/>
        </p:nvSpPr>
        <p:spPr>
          <a:xfrm>
            <a:off x="868680" y="2240280"/>
            <a:ext cx="566280" cy="56628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5"/>
          <p:cNvSpPr/>
          <p:nvPr/>
        </p:nvSpPr>
        <p:spPr>
          <a:xfrm>
            <a:off x="868680" y="2294640"/>
            <a:ext cx="566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M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6"/>
          <p:cNvSpPr/>
          <p:nvPr/>
        </p:nvSpPr>
        <p:spPr>
          <a:xfrm>
            <a:off x="1645920" y="2194560"/>
            <a:ext cx="914328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MADAPORC</a:t>
            </a:r>
            <a:endParaRPr b="0" lang="fr-FR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7"/>
          <p:cNvSpPr/>
          <p:nvPr/>
        </p:nvSpPr>
        <p:spPr>
          <a:xfrm>
            <a:off x="932760" y="3310200"/>
            <a:ext cx="1919520" cy="5400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8"/>
          <p:cNvSpPr/>
          <p:nvPr/>
        </p:nvSpPr>
        <p:spPr>
          <a:xfrm>
            <a:off x="896040" y="3520440"/>
            <a:ext cx="104234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2100" spc="-1" strike="noStrike">
                <a:solidFill>
                  <a:srgbClr val="dbe6fe"/>
                </a:solidFill>
                <a:latin typeface="Calibri"/>
              </a:rPr>
              <a:t>Système intelligent de suivi, de traçabilité et d'aide à la décision reproductive pour l'élevage porcin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9"/>
          <p:cNvSpPr/>
          <p:nvPr/>
        </p:nvSpPr>
        <p:spPr>
          <a:xfrm>
            <a:off x="868680" y="5623560"/>
            <a:ext cx="10057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c9a227"/>
                </a:solidFill>
                <a:latin typeface="Calibri"/>
              </a:rPr>
              <a:t>PROJET S4  ·  2026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868680" y="6035040"/>
            <a:ext cx="10606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fa6c4"/>
                </a:solidFill>
                <a:latin typeface="Calibri"/>
              </a:rPr>
              <a:t>Application web  ·  Spring Boot · JSP · PostgreSQL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639720" y="83520"/>
            <a:ext cx="2233800" cy="13716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 txBox="1"/>
          <p:nvPr/>
        </p:nvSpPr>
        <p:spPr>
          <a:xfrm>
            <a:off x="1107360" y="1514520"/>
            <a:ext cx="7839720" cy="152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457200">
              <a:lnSpc>
                <a:spcPct val="110000"/>
              </a:lnSpc>
            </a:pPr>
            <a:r>
              <a:rPr b="0" lang="fr-BE" sz="2100" spc="-1" strike="noStrike">
                <a:solidFill>
                  <a:srgbClr val="dbe6fe"/>
                </a:solidFill>
                <a:latin typeface="Calibri"/>
              </a:rPr>
              <a:t>Système</a:t>
            </a:r>
            <a:r>
              <a:rPr b="0" lang="en-US" sz="2100" spc="-1" strike="noStrike">
                <a:solidFill>
                  <a:srgbClr val="dbe6fe"/>
                </a:solidFill>
                <a:latin typeface="Calibri"/>
              </a:rPr>
              <a:t> intelligent de suivi, de traçabilité et d'aide à la décision reproductive pour l'élevage </a:t>
            </a:r>
            <a:r>
              <a:rPr b="0" lang="en-US" sz="2100" spc="-1" strike="noStrike">
                <a:solidFill>
                  <a:srgbClr val="dbe6fe"/>
                </a:solidFill>
                <a:latin typeface="Calibri"/>
              </a:rPr>
              <a:t>porcin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PROBLÉMATIQUE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Le contexte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868680" y="2011680"/>
            <a:ext cx="6400080" cy="20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Informations gérées à la main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cahiers papier ou fichiers séparés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Perte d'historique et manque de traçabilité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difficile de remonter le parcours d'un lot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Suivi des reproducteurs difficile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mauvaise anticipation des réformes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Rentabilité en baisse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mauvaise gestion du cycle reproductif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10"/>
          <p:cNvSpPr/>
          <p:nvPr/>
        </p:nvSpPr>
        <p:spPr>
          <a:xfrm>
            <a:off x="7635240" y="2057400"/>
            <a:ext cx="3748320" cy="365688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ounded Rectangle 11"/>
          <p:cNvSpPr/>
          <p:nvPr/>
        </p:nvSpPr>
        <p:spPr>
          <a:xfrm>
            <a:off x="7635240" y="2057400"/>
            <a:ext cx="3748320" cy="45648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7635240" y="2198520"/>
            <a:ext cx="3748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LE BESOIN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7973640" y="3771000"/>
            <a:ext cx="3108240" cy="77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3315c"/>
                </a:solidFill>
                <a:latin typeface="Calibri"/>
              </a:rPr>
              <a:t>Centraliser, tracer, et aider à décider : quelles femelles garder, lesquelles réformer.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NOTRE RÉPONSE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La solution : MADAPORC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03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868680" y="1874520"/>
            <a:ext cx="106063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b1f23"/>
                </a:solidFill>
                <a:latin typeface="Calibri"/>
              </a:rPr>
              <a:t>Au-delà de l'enregistrement administratif, MADAPORC analyse et recommande. Trois piliers, repris dans son intitulé 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10"/>
          <p:cNvSpPr/>
          <p:nvPr/>
        </p:nvSpPr>
        <p:spPr>
          <a:xfrm>
            <a:off x="868680" y="2926080"/>
            <a:ext cx="3428280" cy="2696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11"/>
          <p:cNvSpPr/>
          <p:nvPr/>
        </p:nvSpPr>
        <p:spPr>
          <a:xfrm>
            <a:off x="868680" y="2926080"/>
            <a:ext cx="3428280" cy="12744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Oval 12"/>
          <p:cNvSpPr/>
          <p:nvPr/>
        </p:nvSpPr>
        <p:spPr>
          <a:xfrm>
            <a:off x="1188720" y="3246120"/>
            <a:ext cx="547920" cy="547920"/>
          </a:xfrm>
          <a:prstGeom prst="ellipse">
            <a:avLst/>
          </a:prstGeom>
          <a:solidFill>
            <a:srgbClr val="dbe6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188720" y="3352320"/>
            <a:ext cx="5479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563a8"/>
                </a:solidFill>
                <a:latin typeface="Calibri"/>
              </a:rPr>
              <a:t>1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1188720" y="3977640"/>
            <a:ext cx="287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Suivi &amp; Traçabilité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5"/>
          <p:cNvSpPr/>
          <p:nvPr/>
        </p:nvSpPr>
        <p:spPr>
          <a:xfrm>
            <a:off x="1188720" y="4892040"/>
            <a:ext cx="2788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Tout le cycle de vie du lot, historisé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6"/>
          <p:cNvSpPr/>
          <p:nvPr/>
        </p:nvSpPr>
        <p:spPr>
          <a:xfrm>
            <a:off x="4617720" y="2926080"/>
            <a:ext cx="3428280" cy="2696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17"/>
          <p:cNvSpPr/>
          <p:nvPr/>
        </p:nvSpPr>
        <p:spPr>
          <a:xfrm>
            <a:off x="4617720" y="2926080"/>
            <a:ext cx="3428280" cy="12744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Oval 18"/>
          <p:cNvSpPr/>
          <p:nvPr/>
        </p:nvSpPr>
        <p:spPr>
          <a:xfrm>
            <a:off x="4937760" y="3246120"/>
            <a:ext cx="547920" cy="547920"/>
          </a:xfrm>
          <a:prstGeom prst="ellipse">
            <a:avLst/>
          </a:prstGeom>
          <a:solidFill>
            <a:srgbClr val="dbe6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4937760" y="3352320"/>
            <a:ext cx="5479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563a8"/>
                </a:solidFill>
                <a:latin typeface="Calibri"/>
              </a:rPr>
              <a:t>2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4937760" y="3977640"/>
            <a:ext cx="2879640" cy="5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Aide à la décision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5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reproductive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4937760" y="4892040"/>
            <a:ext cx="2788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Analyse automatique de l'aptitude des femelles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22"/>
          <p:cNvSpPr/>
          <p:nvPr/>
        </p:nvSpPr>
        <p:spPr>
          <a:xfrm>
            <a:off x="8366760" y="2926080"/>
            <a:ext cx="3428280" cy="2696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23"/>
          <p:cNvSpPr/>
          <p:nvPr/>
        </p:nvSpPr>
        <p:spPr>
          <a:xfrm>
            <a:off x="8366760" y="2926080"/>
            <a:ext cx="3428280" cy="12744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Oval 24"/>
          <p:cNvSpPr/>
          <p:nvPr/>
        </p:nvSpPr>
        <p:spPr>
          <a:xfrm>
            <a:off x="8686800" y="3246120"/>
            <a:ext cx="547920" cy="547920"/>
          </a:xfrm>
          <a:prstGeom prst="ellipse">
            <a:avLst/>
          </a:prstGeom>
          <a:solidFill>
            <a:srgbClr val="dbe6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5"/>
          <p:cNvSpPr/>
          <p:nvPr/>
        </p:nvSpPr>
        <p:spPr>
          <a:xfrm>
            <a:off x="8686800" y="3352320"/>
            <a:ext cx="5479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563a8"/>
                </a:solidFill>
                <a:latin typeface="Calibri"/>
              </a:rPr>
              <a:t>3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6"/>
          <p:cNvSpPr/>
          <p:nvPr/>
        </p:nvSpPr>
        <p:spPr>
          <a:xfrm>
            <a:off x="8686800" y="3977640"/>
            <a:ext cx="2879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Pilotage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27"/>
          <p:cNvSpPr/>
          <p:nvPr/>
        </p:nvSpPr>
        <p:spPr>
          <a:xfrm>
            <a:off x="8686800" y="4892040"/>
            <a:ext cx="2788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Tableau de bord, alertes et rapports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PÉRIMÈTRE FONCTIONNEL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Les modules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04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9"/>
          <p:cNvSpPr/>
          <p:nvPr/>
        </p:nvSpPr>
        <p:spPr>
          <a:xfrm>
            <a:off x="868680" y="1965960"/>
            <a:ext cx="342828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ounded Rectangle 10"/>
          <p:cNvSpPr/>
          <p:nvPr/>
        </p:nvSpPr>
        <p:spPr>
          <a:xfrm>
            <a:off x="868680" y="1965960"/>
            <a:ext cx="109080" cy="173664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1234440" y="2221920"/>
            <a:ext cx="287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Cheptel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1234440" y="2752200"/>
            <a:ext cx="2833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Lots, mouvements d'effectif, pesées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13"/>
          <p:cNvSpPr/>
          <p:nvPr/>
        </p:nvSpPr>
        <p:spPr>
          <a:xfrm>
            <a:off x="4617720" y="1965960"/>
            <a:ext cx="342828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ounded Rectangle 14"/>
          <p:cNvSpPr/>
          <p:nvPr/>
        </p:nvSpPr>
        <p:spPr>
          <a:xfrm>
            <a:off x="4617720" y="1965960"/>
            <a:ext cx="109080" cy="173664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5"/>
          <p:cNvSpPr/>
          <p:nvPr/>
        </p:nvSpPr>
        <p:spPr>
          <a:xfrm>
            <a:off x="4983480" y="2221920"/>
            <a:ext cx="287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Reproduction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4983480" y="2752200"/>
            <a:ext cx="2833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Groupes, mise bas, analyse d'aptitude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17"/>
          <p:cNvSpPr/>
          <p:nvPr/>
        </p:nvSpPr>
        <p:spPr>
          <a:xfrm>
            <a:off x="8366760" y="1965960"/>
            <a:ext cx="342828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ounded Rectangle 18"/>
          <p:cNvSpPr/>
          <p:nvPr/>
        </p:nvSpPr>
        <p:spPr>
          <a:xfrm>
            <a:off x="8366760" y="1965960"/>
            <a:ext cx="109080" cy="173664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8732520" y="2221920"/>
            <a:ext cx="287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Santé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0"/>
          <p:cNvSpPr/>
          <p:nvPr/>
        </p:nvSpPr>
        <p:spPr>
          <a:xfrm>
            <a:off x="8732520" y="2752200"/>
            <a:ext cx="2833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Vaccinations, rappels, suivi sanitaire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21"/>
          <p:cNvSpPr/>
          <p:nvPr/>
        </p:nvSpPr>
        <p:spPr>
          <a:xfrm>
            <a:off x="868680" y="3977640"/>
            <a:ext cx="342828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ounded Rectangle 22"/>
          <p:cNvSpPr/>
          <p:nvPr/>
        </p:nvSpPr>
        <p:spPr>
          <a:xfrm>
            <a:off x="868680" y="3977640"/>
            <a:ext cx="109080" cy="173664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23"/>
          <p:cNvSpPr/>
          <p:nvPr/>
        </p:nvSpPr>
        <p:spPr>
          <a:xfrm>
            <a:off x="1234440" y="4233600"/>
            <a:ext cx="287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Commerce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4"/>
          <p:cNvSpPr/>
          <p:nvPr/>
        </p:nvSpPr>
        <p:spPr>
          <a:xfrm>
            <a:off x="1234440" y="4763880"/>
            <a:ext cx="2833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Clients, ventes, reçus PDF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ounded Rectangle 25"/>
          <p:cNvSpPr/>
          <p:nvPr/>
        </p:nvSpPr>
        <p:spPr>
          <a:xfrm>
            <a:off x="4617720" y="3977640"/>
            <a:ext cx="342828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ounded Rectangle 26"/>
          <p:cNvSpPr/>
          <p:nvPr/>
        </p:nvSpPr>
        <p:spPr>
          <a:xfrm>
            <a:off x="4617720" y="3977640"/>
            <a:ext cx="109080" cy="173664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27"/>
          <p:cNvSpPr/>
          <p:nvPr/>
        </p:nvSpPr>
        <p:spPr>
          <a:xfrm>
            <a:off x="4983480" y="4233600"/>
            <a:ext cx="287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Stocks &amp; Finance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8"/>
          <p:cNvSpPr/>
          <p:nvPr/>
        </p:nvSpPr>
        <p:spPr>
          <a:xfrm>
            <a:off x="4983480" y="4763880"/>
            <a:ext cx="2833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Ingrédients, dépenses, rapports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29"/>
          <p:cNvSpPr/>
          <p:nvPr/>
        </p:nvSpPr>
        <p:spPr>
          <a:xfrm>
            <a:off x="8366760" y="3977640"/>
            <a:ext cx="342828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9ee"/>
            </a:solidFill>
            <a:round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ounded Rectangle 30"/>
          <p:cNvSpPr/>
          <p:nvPr/>
        </p:nvSpPr>
        <p:spPr>
          <a:xfrm>
            <a:off x="8366760" y="3977640"/>
            <a:ext cx="109080" cy="173664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31"/>
          <p:cNvSpPr/>
          <p:nvPr/>
        </p:nvSpPr>
        <p:spPr>
          <a:xfrm>
            <a:off x="8732520" y="4233600"/>
            <a:ext cx="287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Tableau de bord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2"/>
          <p:cNvSpPr/>
          <p:nvPr/>
        </p:nvSpPr>
        <p:spPr>
          <a:xfrm>
            <a:off x="8732520" y="4763880"/>
            <a:ext cx="2833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480"/>
                </a:solidFill>
                <a:latin typeface="Calibri"/>
              </a:rPr>
              <a:t>Indicateurs, graphes, alertes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LE CŒUR DU PROJET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Analyse reproductive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05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868680" y="1874520"/>
            <a:ext cx="585144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1550" spc="-1" strike="noStrike">
                <a:solidFill>
                  <a:srgbClr val="1b1f23"/>
                </a:solidFill>
                <a:latin typeface="Calibri"/>
              </a:rPr>
              <a:t>Ce qui distingue MADAPORC d'un simple logiciel de gestion. Pour chaque lot de femelles, le système calcule :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868680" y="3063240"/>
            <a:ext cx="5851440" cy="15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b="1" lang="en-US" sz="15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50" spc="-1" strike="noStrike">
                <a:solidFill>
                  <a:srgbClr val="1b1f23"/>
                </a:solidFill>
                <a:latin typeface="Calibri"/>
              </a:rPr>
              <a:t>Âge reproductif réel (bornes par race)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b="1" lang="en-US" sz="15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50" spc="-1" strike="noStrike">
                <a:solidFill>
                  <a:srgbClr val="1b1f23"/>
                </a:solidFill>
                <a:latin typeface="Calibri"/>
              </a:rPr>
              <a:t>Taux d'aptitude et taux de fertilité observé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b="1" lang="en-US" sz="15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50" spc="-1" strike="noStrike">
                <a:solidFill>
                  <a:srgbClr val="1b1f23"/>
                </a:solidFill>
                <a:latin typeface="Calibri"/>
              </a:rPr>
              <a:t>Répartition des femelles par statut reproductif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b="1" lang="en-US" sz="15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50" spc="-1" strike="noStrike">
                <a:solidFill>
                  <a:srgbClr val="1b1f23"/>
                </a:solidFill>
                <a:latin typeface="Calibri"/>
              </a:rPr>
              <a:t>Une recommandation automatique par lot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11"/>
          <p:cNvSpPr/>
          <p:nvPr/>
        </p:nvSpPr>
        <p:spPr>
          <a:xfrm>
            <a:off x="7086600" y="1965960"/>
            <a:ext cx="4342680" cy="397692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7360920" y="2148840"/>
            <a:ext cx="383976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0b2545"/>
                </a:solidFill>
                <a:latin typeface="Calibri"/>
              </a:rPr>
              <a:t>RECOMMANDATION AUTOMATIQUE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13"/>
          <p:cNvSpPr/>
          <p:nvPr/>
        </p:nvSpPr>
        <p:spPr>
          <a:xfrm>
            <a:off x="7360920" y="2743200"/>
            <a:ext cx="3794040" cy="822240"/>
          </a:xfrm>
          <a:prstGeom prst="roundRect">
            <a:avLst>
              <a:gd name="adj" fmla="val 16667"/>
            </a:avLst>
          </a:prstGeom>
          <a:solidFill>
            <a:srgbClr val="d8f3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Oval 14"/>
          <p:cNvSpPr/>
          <p:nvPr/>
        </p:nvSpPr>
        <p:spPr>
          <a:xfrm>
            <a:off x="7635240" y="3026520"/>
            <a:ext cx="255240" cy="255240"/>
          </a:xfrm>
          <a:prstGeom prst="ellipse">
            <a:avLst/>
          </a:prstGeom>
          <a:solidFill>
            <a:srgbClr val="4091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8092440" y="3039840"/>
            <a:ext cx="29253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45741"/>
                </a:solidFill>
                <a:latin typeface="Calibri"/>
              </a:rPr>
              <a:t>Apte à la reproduction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ounded Rectangle 16"/>
          <p:cNvSpPr/>
          <p:nvPr/>
        </p:nvSpPr>
        <p:spPr>
          <a:xfrm>
            <a:off x="7360920" y="3712320"/>
            <a:ext cx="3794040" cy="822240"/>
          </a:xfrm>
          <a:prstGeom prst="roundRect">
            <a:avLst>
              <a:gd name="adj" fmla="val 16667"/>
            </a:avLst>
          </a:prstGeom>
          <a:solidFill>
            <a:srgbClr val="fdecc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Oval 17"/>
          <p:cNvSpPr/>
          <p:nvPr/>
        </p:nvSpPr>
        <p:spPr>
          <a:xfrm>
            <a:off x="7635240" y="3996000"/>
            <a:ext cx="255240" cy="255240"/>
          </a:xfrm>
          <a:prstGeom prst="ellipse">
            <a:avLst/>
          </a:prstGeom>
          <a:solidFill>
            <a:srgbClr val="b453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8092440" y="4008960"/>
            <a:ext cx="29253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b45309"/>
                </a:solidFill>
                <a:latin typeface="Calibri"/>
              </a:rPr>
              <a:t>À surveiller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19"/>
          <p:cNvSpPr/>
          <p:nvPr/>
        </p:nvSpPr>
        <p:spPr>
          <a:xfrm>
            <a:off x="7360920" y="4681800"/>
            <a:ext cx="3794040" cy="822240"/>
          </a:xfrm>
          <a:prstGeom prst="roundRect">
            <a:avLst>
              <a:gd name="adj" fmla="val 16667"/>
            </a:avLst>
          </a:prstGeom>
          <a:solidFill>
            <a:srgbClr val="fde2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Oval 20"/>
          <p:cNvSpPr/>
          <p:nvPr/>
        </p:nvSpPr>
        <p:spPr>
          <a:xfrm>
            <a:off x="7635240" y="4965120"/>
            <a:ext cx="255240" cy="255240"/>
          </a:xfrm>
          <a:prstGeom prst="ellipse">
            <a:avLst/>
          </a:prstGeom>
          <a:solidFill>
            <a:srgbClr val="b91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1"/>
          <p:cNvSpPr/>
          <p:nvPr/>
        </p:nvSpPr>
        <p:spPr>
          <a:xfrm>
            <a:off x="8092440" y="4978440"/>
            <a:ext cx="29253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b91c1c"/>
                </a:solidFill>
                <a:latin typeface="Calibri"/>
              </a:rPr>
              <a:t>Réforme recommandée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22"/>
          <p:cNvSpPr/>
          <p:nvPr/>
        </p:nvSpPr>
        <p:spPr>
          <a:xfrm>
            <a:off x="868680" y="5650920"/>
            <a:ext cx="10560600" cy="65772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23"/>
          <p:cNvSpPr/>
          <p:nvPr/>
        </p:nvSpPr>
        <p:spPr>
          <a:xfrm>
            <a:off x="1188720" y="5774040"/>
            <a:ext cx="100576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</a:rPr>
              <a:t>Basée sur les bornes d'âge par race et l'historique des groupes : l'éleveur sait quelles femelles garder ou réformer — pour améliorer la productivité.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CYCLE DE VIE &amp; TRAÇABILITÉ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Le parcours métier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06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9"/>
          <p:cNvSpPr/>
          <p:nvPr/>
        </p:nvSpPr>
        <p:spPr>
          <a:xfrm>
            <a:off x="868680" y="2606040"/>
            <a:ext cx="1937880" cy="114228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960120" y="3062520"/>
            <a:ext cx="1755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Lot de porcs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Chevron 11"/>
          <p:cNvSpPr/>
          <p:nvPr/>
        </p:nvSpPr>
        <p:spPr>
          <a:xfrm>
            <a:off x="2834640" y="3008520"/>
            <a:ext cx="173160" cy="328320"/>
          </a:xfrm>
          <a:prstGeom prst="chevron">
            <a:avLst>
              <a:gd name="adj" fmla="val 50000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ounded Rectangle 12"/>
          <p:cNvSpPr/>
          <p:nvPr/>
        </p:nvSpPr>
        <p:spPr>
          <a:xfrm>
            <a:off x="3035880" y="2606040"/>
            <a:ext cx="1937880" cy="114228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13"/>
          <p:cNvSpPr/>
          <p:nvPr/>
        </p:nvSpPr>
        <p:spPr>
          <a:xfrm>
            <a:off x="3127320" y="3062520"/>
            <a:ext cx="1755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Reproduction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Chevron 14"/>
          <p:cNvSpPr/>
          <p:nvPr/>
        </p:nvSpPr>
        <p:spPr>
          <a:xfrm>
            <a:off x="5001840" y="3008520"/>
            <a:ext cx="173160" cy="328320"/>
          </a:xfrm>
          <a:prstGeom prst="chevron">
            <a:avLst>
              <a:gd name="adj" fmla="val 50000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ounded Rectangle 15"/>
          <p:cNvSpPr/>
          <p:nvPr/>
        </p:nvSpPr>
        <p:spPr>
          <a:xfrm>
            <a:off x="5203080" y="2606040"/>
            <a:ext cx="1937880" cy="114228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6"/>
          <p:cNvSpPr/>
          <p:nvPr/>
        </p:nvSpPr>
        <p:spPr>
          <a:xfrm>
            <a:off x="5294520" y="3062520"/>
            <a:ext cx="1755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Lots de naissance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Chevron 17"/>
          <p:cNvSpPr/>
          <p:nvPr/>
        </p:nvSpPr>
        <p:spPr>
          <a:xfrm>
            <a:off x="7169040" y="3008520"/>
            <a:ext cx="173160" cy="328320"/>
          </a:xfrm>
          <a:prstGeom prst="chevron">
            <a:avLst>
              <a:gd name="adj" fmla="val 50000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ounded Rectangle 18"/>
          <p:cNvSpPr/>
          <p:nvPr/>
        </p:nvSpPr>
        <p:spPr>
          <a:xfrm>
            <a:off x="7369920" y="2606040"/>
            <a:ext cx="1937880" cy="114228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19"/>
          <p:cNvSpPr/>
          <p:nvPr/>
        </p:nvSpPr>
        <p:spPr>
          <a:xfrm>
            <a:off x="7461360" y="3062520"/>
            <a:ext cx="1755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Engraissement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Chevron 20"/>
          <p:cNvSpPr/>
          <p:nvPr/>
        </p:nvSpPr>
        <p:spPr>
          <a:xfrm>
            <a:off x="9335880" y="3008520"/>
            <a:ext cx="173160" cy="328320"/>
          </a:xfrm>
          <a:prstGeom prst="chevron">
            <a:avLst>
              <a:gd name="adj" fmla="val 50000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ounded Rectangle 21"/>
          <p:cNvSpPr/>
          <p:nvPr/>
        </p:nvSpPr>
        <p:spPr>
          <a:xfrm>
            <a:off x="9537120" y="2606040"/>
            <a:ext cx="1937880" cy="1142280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2"/>
          <p:cNvSpPr/>
          <p:nvPr/>
        </p:nvSpPr>
        <p:spPr>
          <a:xfrm>
            <a:off x="9628560" y="3062520"/>
            <a:ext cx="1755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Vente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23"/>
          <p:cNvSpPr/>
          <p:nvPr/>
        </p:nvSpPr>
        <p:spPr>
          <a:xfrm>
            <a:off x="868680" y="4251960"/>
            <a:ext cx="106063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3315c"/>
                </a:solidFill>
                <a:latin typeface="Calibri"/>
              </a:rPr>
              <a:t>Chaque étape est tracée et met à jour l'effectif : </a:t>
            </a:r>
            <a:r>
              <a:rPr b="0" lang="en-US" sz="1500" spc="-1" strike="noStrike">
                <a:solidFill>
                  <a:srgbClr val="6b7480"/>
                </a:solidFill>
                <a:latin typeface="Calibri"/>
              </a:rPr>
              <a:t>une mise bas crée les lots de porcelets, une vente validée diminue l'effectif du lot.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24"/>
          <p:cNvSpPr/>
          <p:nvPr/>
        </p:nvSpPr>
        <p:spPr>
          <a:xfrm>
            <a:off x="868680" y="5029200"/>
            <a:ext cx="10560600" cy="77652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5"/>
          <p:cNvSpPr/>
          <p:nvPr/>
        </p:nvSpPr>
        <p:spPr>
          <a:xfrm>
            <a:off x="1188720" y="5310360"/>
            <a:ext cx="100576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315c"/>
                </a:solidFill>
                <a:latin typeface="Calibri"/>
              </a:rPr>
              <a:t>Traçabilité complète d'un lot : mouvements, pesées, mises bas et ventes sont historisés et reliés entre eux, du premier jour à la vente.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POINTS FORTS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Fonctionnalités clés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07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868680" y="2514600"/>
            <a:ext cx="5211360" cy="26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201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Tableau de bord visuel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graphes cheptel, finances, reproduction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201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Alertes de reproduction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mises bas proches / en retard + e-mail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201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Notifications temps réel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toasts sur toutes les pages (SSE)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6309360" y="2514600"/>
            <a:ext cx="5119920" cy="23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201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Import / Export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via la logique métier, rapport de rejets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201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Rapports PDF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sanitaire, financier, commercial, reproduction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201"/>
              </a:spcAft>
            </a:pPr>
            <a:r>
              <a:rPr b="1" lang="en-US" sz="17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Traçabilité &amp; recherche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—  historique, filtres, intervalles, tri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SOUS LE CAPOT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Architecture technique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08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ounded Rectangle 9"/>
          <p:cNvSpPr/>
          <p:nvPr/>
        </p:nvSpPr>
        <p:spPr>
          <a:xfrm>
            <a:off x="868680" y="2057400"/>
            <a:ext cx="7314480" cy="1142280"/>
          </a:xfrm>
          <a:prstGeom prst="roundRect">
            <a:avLst>
              <a:gd name="adj" fmla="val 16667"/>
            </a:avLst>
          </a:prstGeom>
          <a:solidFill>
            <a:srgbClr val="2563a8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1234440" y="2240280"/>
            <a:ext cx="6765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Présentation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1234440" y="2715840"/>
            <a:ext cx="676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be6fe"/>
                </a:solidFill>
                <a:latin typeface="Calibri"/>
              </a:rPr>
              <a:t>JSP  + CSS — interface web responsive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12"/>
          <p:cNvSpPr/>
          <p:nvPr/>
        </p:nvSpPr>
        <p:spPr>
          <a:xfrm>
            <a:off x="868680" y="3383280"/>
            <a:ext cx="7314480" cy="114228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3"/>
          <p:cNvSpPr/>
          <p:nvPr/>
        </p:nvSpPr>
        <p:spPr>
          <a:xfrm>
            <a:off x="1234440" y="3566160"/>
            <a:ext cx="6765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Traitement (métier)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1234440" y="4041720"/>
            <a:ext cx="676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be6fe"/>
                </a:solidFill>
                <a:latin typeface="Calibri"/>
              </a:rPr>
              <a:t>Spring Boot MVC — 24 contrôleurs, 30 services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ounded Rectangle 15"/>
          <p:cNvSpPr/>
          <p:nvPr/>
        </p:nvSpPr>
        <p:spPr>
          <a:xfrm>
            <a:off x="868680" y="4709160"/>
            <a:ext cx="7314480" cy="1142280"/>
          </a:xfrm>
          <a:prstGeom prst="roundRect">
            <a:avLst>
              <a:gd name="adj" fmla="val 16667"/>
            </a:avLst>
          </a:prstGeom>
          <a:solidFill>
            <a:srgbClr val="1c4a7e"/>
          </a:solidFill>
          <a:ln>
            <a:noFill/>
          </a:ln>
          <a:effectLst>
            <a:outerShdw blurRad="90000" dir="5400000" dist="39960" rotWithShape="0">
              <a:srgbClr val="0b254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1234440" y="4892040"/>
            <a:ext cx="6765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Données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7"/>
          <p:cNvSpPr/>
          <p:nvPr/>
        </p:nvSpPr>
        <p:spPr>
          <a:xfrm>
            <a:off x="1234440" y="5367600"/>
            <a:ext cx="676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be6fe"/>
                </a:solidFill>
                <a:latin typeface="Calibri"/>
              </a:rPr>
              <a:t>PostgreSQL via Spring Data JPA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18"/>
          <p:cNvSpPr/>
          <p:nvPr/>
        </p:nvSpPr>
        <p:spPr>
          <a:xfrm>
            <a:off x="8458200" y="2057400"/>
            <a:ext cx="2925360" cy="37940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Rounded Rectangle 19"/>
          <p:cNvSpPr/>
          <p:nvPr/>
        </p:nvSpPr>
        <p:spPr>
          <a:xfrm>
            <a:off x="8458200" y="2057400"/>
            <a:ext cx="2925360" cy="456480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20"/>
          <p:cNvSpPr/>
          <p:nvPr/>
        </p:nvSpPr>
        <p:spPr>
          <a:xfrm>
            <a:off x="8458200" y="2193840"/>
            <a:ext cx="2925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2545"/>
                </a:solidFill>
                <a:latin typeface="Calibri"/>
              </a:rPr>
              <a:t>TRANSVERSES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21"/>
          <p:cNvSpPr/>
          <p:nvPr/>
        </p:nvSpPr>
        <p:spPr>
          <a:xfrm>
            <a:off x="8732520" y="2788920"/>
            <a:ext cx="2468160" cy="15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250" spc="-1" strike="noStrike">
                <a:solidFill>
                  <a:srgbClr val="1b1f23"/>
                </a:solidFill>
                <a:latin typeface="Calibri"/>
              </a:rPr>
              <a:t>Authentification par session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250" spc="-1" strike="noStrike">
                <a:solidFill>
                  <a:srgbClr val="1b1f23"/>
                </a:solidFill>
                <a:latin typeface="Calibri"/>
              </a:rPr>
              <a:t>Rôles Admin / Gestionnaire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250" spc="-1" strike="noStrike">
                <a:solidFill>
                  <a:srgbClr val="1b1f23"/>
                </a:solidFill>
                <a:latin typeface="Calibri"/>
              </a:rPr>
              <a:t>Notifications SSE + e-mail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250" spc="-1" strike="noStrike">
                <a:solidFill>
                  <a:srgbClr val="1b1f23"/>
                </a:solidFill>
                <a:latin typeface="Calibri"/>
              </a:rPr>
              <a:t>Tâches planifiées (alertes)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00"/>
              </a:spcAft>
            </a:pPr>
            <a:r>
              <a:rPr b="1" lang="en-US" sz="125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250" spc="-1" strike="noStrike">
                <a:solidFill>
                  <a:srgbClr val="1b1f23"/>
                </a:solidFill>
                <a:latin typeface="Calibri"/>
              </a:rPr>
              <a:t>Gestion globale des erreurs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EN DIRECT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Démonstration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09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868680" y="1874520"/>
            <a:ext cx="105148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1f23"/>
                </a:solidFill>
                <a:latin typeface="Calibri"/>
              </a:rPr>
              <a:t>Scénario suivi pendant la démo 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Oval 10"/>
          <p:cNvSpPr/>
          <p:nvPr/>
        </p:nvSpPr>
        <p:spPr>
          <a:xfrm>
            <a:off x="868680" y="2514600"/>
            <a:ext cx="456480" cy="456480"/>
          </a:xfrm>
          <a:prstGeom prst="ellipse">
            <a:avLst/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11"/>
          <p:cNvSpPr/>
          <p:nvPr/>
        </p:nvSpPr>
        <p:spPr>
          <a:xfrm>
            <a:off x="868680" y="2628360"/>
            <a:ext cx="45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12"/>
          <p:cNvSpPr/>
          <p:nvPr/>
        </p:nvSpPr>
        <p:spPr>
          <a:xfrm>
            <a:off x="1508760" y="2620800"/>
            <a:ext cx="98748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b1f23"/>
                </a:solidFill>
                <a:latin typeface="Calibri"/>
              </a:rPr>
              <a:t>Création d'un lot et saisie du poids de départ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Oval 13"/>
          <p:cNvSpPr/>
          <p:nvPr/>
        </p:nvSpPr>
        <p:spPr>
          <a:xfrm>
            <a:off x="868680" y="3246120"/>
            <a:ext cx="456480" cy="456480"/>
          </a:xfrm>
          <a:prstGeom prst="ellipse">
            <a:avLst/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4"/>
          <p:cNvSpPr/>
          <p:nvPr/>
        </p:nvSpPr>
        <p:spPr>
          <a:xfrm>
            <a:off x="868680" y="3359880"/>
            <a:ext cx="45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5"/>
          <p:cNvSpPr/>
          <p:nvPr/>
        </p:nvSpPr>
        <p:spPr>
          <a:xfrm>
            <a:off x="1508760" y="3352320"/>
            <a:ext cx="98748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b1f23"/>
                </a:solidFill>
                <a:latin typeface="Calibri"/>
              </a:rPr>
              <a:t>Groupe de reproduction, puis confirmation de la mise bas (lots de naissance auto-créés)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val 16"/>
          <p:cNvSpPr/>
          <p:nvPr/>
        </p:nvSpPr>
        <p:spPr>
          <a:xfrm>
            <a:off x="868680" y="3977640"/>
            <a:ext cx="456480" cy="456480"/>
          </a:xfrm>
          <a:prstGeom prst="ellipse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7"/>
          <p:cNvSpPr/>
          <p:nvPr/>
        </p:nvSpPr>
        <p:spPr>
          <a:xfrm>
            <a:off x="868680" y="4091400"/>
            <a:ext cx="45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8"/>
          <p:cNvSpPr/>
          <p:nvPr/>
        </p:nvSpPr>
        <p:spPr>
          <a:xfrm>
            <a:off x="1508760" y="4083840"/>
            <a:ext cx="98748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3315c"/>
                </a:solidFill>
                <a:latin typeface="Calibri"/>
              </a:rPr>
              <a:t>Analyse reproductive : recommandation Apte / À surveiller / Réforme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Oval 19"/>
          <p:cNvSpPr/>
          <p:nvPr/>
        </p:nvSpPr>
        <p:spPr>
          <a:xfrm>
            <a:off x="868680" y="4709160"/>
            <a:ext cx="456480" cy="456480"/>
          </a:xfrm>
          <a:prstGeom prst="ellipse">
            <a:avLst/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20"/>
          <p:cNvSpPr/>
          <p:nvPr/>
        </p:nvSpPr>
        <p:spPr>
          <a:xfrm>
            <a:off x="868680" y="4822920"/>
            <a:ext cx="45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21"/>
          <p:cNvSpPr/>
          <p:nvPr/>
        </p:nvSpPr>
        <p:spPr>
          <a:xfrm>
            <a:off x="1508760" y="4815360"/>
            <a:ext cx="98748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b1f23"/>
                </a:solidFill>
                <a:latin typeface="Calibri"/>
              </a:rPr>
              <a:t>Vente à un client et reçu PDF ; tableau de bord mis à jour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Oval 22"/>
          <p:cNvSpPr/>
          <p:nvPr/>
        </p:nvSpPr>
        <p:spPr>
          <a:xfrm>
            <a:off x="868680" y="5440680"/>
            <a:ext cx="456480" cy="456480"/>
          </a:xfrm>
          <a:prstGeom prst="ellipse">
            <a:avLst/>
          </a:prstGeom>
          <a:solidFill>
            <a:srgbClr val="2563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23"/>
          <p:cNvSpPr/>
          <p:nvPr/>
        </p:nvSpPr>
        <p:spPr>
          <a:xfrm>
            <a:off x="868680" y="5554440"/>
            <a:ext cx="45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24"/>
          <p:cNvSpPr/>
          <p:nvPr/>
        </p:nvSpPr>
        <p:spPr>
          <a:xfrm>
            <a:off x="1508760" y="5546880"/>
            <a:ext cx="98748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b1f23"/>
                </a:solidFill>
                <a:latin typeface="Calibri"/>
              </a:rPr>
              <a:t>Import de données (rapport de rejets) et export d'un rapport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255240" cy="685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255960" y="0"/>
            <a:ext cx="54000" cy="685728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777240" y="502920"/>
            <a:ext cx="10057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563a8"/>
                </a:solidFill>
                <a:latin typeface="Calibri"/>
              </a:rPr>
              <a:t>POUR FINIR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777240" y="78624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3315c"/>
                </a:solidFill>
                <a:latin typeface="Calibri"/>
              </a:rPr>
              <a:t>Conclusion &amp; perspectives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5"/>
          <p:cNvSpPr/>
          <p:nvPr/>
        </p:nvSpPr>
        <p:spPr>
          <a:xfrm>
            <a:off x="822960" y="1481400"/>
            <a:ext cx="1050840" cy="40320"/>
          </a:xfrm>
          <a:prstGeom prst="rect">
            <a:avLst/>
          </a:prstGeom>
          <a:solidFill>
            <a:srgbClr val="c9a2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Rectangle 6"/>
          <p:cNvSpPr/>
          <p:nvPr/>
        </p:nvSpPr>
        <p:spPr>
          <a:xfrm>
            <a:off x="777240" y="6419160"/>
            <a:ext cx="10606320" cy="17640"/>
          </a:xfrm>
          <a:prstGeom prst="rect">
            <a:avLst/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777240" y="6473880"/>
            <a:ext cx="8228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480"/>
                </a:solidFill>
                <a:latin typeface="Calibri"/>
              </a:rPr>
              <a:t>MADAPORC · Système d'aide à la décision reproductive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10424160" y="6473880"/>
            <a:ext cx="959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a8"/>
                </a:solidFill>
                <a:latin typeface="Calibri"/>
              </a:rPr>
              <a:t>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ounded Rectangle 9"/>
          <p:cNvSpPr/>
          <p:nvPr/>
        </p:nvSpPr>
        <p:spPr>
          <a:xfrm>
            <a:off x="868680" y="2011680"/>
            <a:ext cx="5211360" cy="374832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1188720" y="2240280"/>
            <a:ext cx="45712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3315c"/>
                </a:solidFill>
                <a:latin typeface="Calibri"/>
              </a:rPr>
              <a:t>Ce qui est en place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1188720" y="2788920"/>
            <a:ext cx="466272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1b1f23"/>
                </a:solidFill>
                <a:latin typeface="Calibri"/>
              </a:rPr>
              <a:t>Traçabilité complète du lot à la vente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1b1f23"/>
                </a:solidFill>
                <a:latin typeface="Calibri"/>
              </a:rPr>
              <a:t>Recommandation reproductive automatique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1b1f23"/>
                </a:solidFill>
                <a:latin typeface="Calibri"/>
              </a:rPr>
              <a:t>Alertes, rapports et tableau de bord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1b1f23"/>
                </a:solidFill>
                <a:latin typeface="Calibri"/>
              </a:rPr>
              <a:t>Application fonctionnelle et testée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ounded Rectangle 12"/>
          <p:cNvSpPr/>
          <p:nvPr/>
        </p:nvSpPr>
        <p:spPr>
          <a:xfrm>
            <a:off x="6355080" y="2011680"/>
            <a:ext cx="4982760" cy="374832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675120" y="2240280"/>
            <a:ext cx="43884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9a227"/>
                </a:solidFill>
                <a:latin typeface="Calibri"/>
              </a:rPr>
              <a:t>Perspectives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6675120" y="2788920"/>
            <a:ext cx="438840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Version mobile pour la saisie terrain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Gestion multi-élevages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Statistiques prédictives (rendement)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301"/>
              </a:spcAft>
            </a:pPr>
            <a:r>
              <a:rPr b="1" lang="en-US" sz="1500" spc="-1" strike="noStrike">
                <a:solidFill>
                  <a:srgbClr val="c9a227"/>
                </a:solidFill>
                <a:latin typeface="Calibri"/>
              </a:rPr>
              <a:t>▪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Export comptable et sauvegardes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5"/>
          <p:cNvSpPr/>
          <p:nvPr/>
        </p:nvSpPr>
        <p:spPr>
          <a:xfrm>
            <a:off x="868680" y="6035040"/>
            <a:ext cx="10606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3315c"/>
                </a:solidFill>
                <a:latin typeface="Calibri"/>
              </a:rPr>
              <a:t>Merci de votre attention.</a:t>
            </a:r>
            <a:r>
              <a:rPr b="0" lang="en-US" sz="1600" spc="-1" strike="noStrike">
                <a:solidFill>
                  <a:srgbClr val="6b7480"/>
                </a:solidFill>
                <a:latin typeface="Calibri"/>
              </a:rPr>
              <a:t>   Des questions ?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2026-07-13T12:55:34Z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