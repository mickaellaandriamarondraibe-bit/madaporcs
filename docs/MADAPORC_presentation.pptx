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Bonjour. Nous présentons MADAPORC, un système intelligent de suivi, de traçabilité et d'aide à la décision reproductive pour l'élevage porcin. Ce n'est pas qu'un logiciel de gestion : il analyse les performances reproductives et recommande de garder ou de réformer les femelles.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Dans beaucoup d'exploitations, les données sont gérées manuellement ou dans des fichiers séparés. Résultat : perte d'historique, manque de traçabilité, suivi des reproducteurs difficile, réformes mal anticipées et rentabilité en baisse. Le besoin : centraliser, tracer et aider à décider.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MADAPORC va au-delà de l'enregistrement : il analyse et il recommande. Trois piliers, directement repris dans le titre du projet : le suivi et la traçabilité, l'aide à la décision reproductive, et le pilotage via tableau de bord, alertes et rapports.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modules couvrent l'exploitation : le cheptel, la reproduction — qui inclut l'analyse d'aptitude, la santé, le commerce, les stocks et finances, et le tableau de bord. Deux rôles : administrateur et gestionnaire, avec des accès contrôlés.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le cœur du projet : l'analyse reproductive. Pour chaque lot de femelles, le système calcule l'âge reproductif réel, les taux d'aptitude et de fertilité, la répartition par statut, et surtout produit une recommandation : apte à la reproduction, à surveiller, ou réforme recommandée. C'est ce qui aide concrètement l'éleveur à décider, et qui améliore la productivité.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L'application suit tout le cycle de vie : d'un lot de porcs à la reproduction, qui crée des lots de naissance, puis l'engraissement et la vente. Chaque étape est tracée et met à jour automatiquement l'effectif. On peut retracer complètement l'histoire d'un 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Au-delà du cœur métier, l'application offre un tableau de bord visuel, des alertes de reproduction automatiques avec e-mail récapitulatif, des notifications en temps réel, un import/export qui passe par la logique métier avec rapport de rejets, des rapports PDF, et une recherche avancée.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Techniquement : une architecture en couches. Présentation en JSP, métier avec Spring Boot MVC — 24 contrôleurs et 30 services, données dans PostgreSQL via JPA. En transverse : authentification par rôle, notifications SSE et e-mail, tâches planifiées pour les alertes, et gestion globale des erreurs.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Passons à la démonstration : création d'un lot, gestion d'une reproduction jusqu'à la mise bas, puis l'analyse reproductive avec sa recommandation — le point clé. Ensuite une vente avec reçu PDF, le tableau de bord qui se met à jour, et enfin l'import/export.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conclure : MADAPORC assure la traçabilité complète, produit une recommandation reproductive automatique, et offre alertes, rapports et tableau de bord ; le tout fonctionnel et testé. Perspectives : version mobile, multi-élevages, statistiques prédictives. Merci, place aux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1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566928" cy="566928"/>
          </a:xfrm>
          <a:prstGeom prst="round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MADAPORC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3310128"/>
            <a:ext cx="192024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52044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 i="0">
                <a:solidFill>
                  <a:srgbClr val="DBE6FE"/>
                </a:solidFill>
                <a:latin typeface="Calibri"/>
              </a:rPr>
              <a:t>Système intelligent de suivi, de traçabilité et d'aide à la décision reproductive pour l'élevage porcin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623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227"/>
                </a:solidFill>
                <a:latin typeface="Calibri"/>
              </a:rPr>
              <a:t>PROJET S4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0350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A6C4"/>
                </a:solidFill>
                <a:latin typeface="Calibri"/>
              </a:rPr>
              <a:t>Application web  ·  Spring Boot · JSP ·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A8"/>
                </a:solidFill>
                <a:latin typeface="Calibri"/>
              </a:rPr>
              <a:t>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315C"/>
                </a:solidFill>
                <a:latin typeface="Calibri"/>
              </a:rPr>
              <a:t>Le contexte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81328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419088"/>
            <a:ext cx="10607040" cy="182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2563A8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64008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700" b="1">
                <a:solidFill>
                  <a:srgbClr val="C9A227"/>
                </a:solidFill>
                <a:latin typeface="Calibri"/>
              </a:rPr>
              <a:t>▪  </a:t>
            </a:r>
            <a:r>
              <a:rPr sz="1700" b="1">
                <a:solidFill>
                  <a:srgbClr val="1B1F23"/>
                </a:solidFill>
                <a:latin typeface="Calibri"/>
              </a:rPr>
              <a:t>Informations gérées à la main</a:t>
            </a:r>
            <a:r>
              <a:rPr sz="1600">
                <a:solidFill>
                  <a:srgbClr val="6B7480"/>
                </a:solidFill>
                <a:latin typeface="Calibri"/>
              </a:rPr>
              <a:t>  —  cahiers papier ou fichiers séparés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700" b="1">
                <a:solidFill>
                  <a:srgbClr val="C9A227"/>
                </a:solidFill>
                <a:latin typeface="Calibri"/>
              </a:rPr>
              <a:t>▪  </a:t>
            </a:r>
            <a:r>
              <a:rPr sz="1700" b="1">
                <a:solidFill>
                  <a:srgbClr val="1B1F23"/>
                </a:solidFill>
                <a:latin typeface="Calibri"/>
              </a:rPr>
              <a:t>Perte d'historique et manque de traçabilité</a:t>
            </a:r>
            <a:r>
              <a:rPr sz="1600">
                <a:solidFill>
                  <a:srgbClr val="6B7480"/>
                </a:solidFill>
                <a:latin typeface="Calibri"/>
              </a:rPr>
              <a:t>  —  difficile de remonter le parcours d'un lot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700" b="1">
                <a:solidFill>
                  <a:srgbClr val="C9A227"/>
                </a:solidFill>
                <a:latin typeface="Calibri"/>
              </a:rPr>
              <a:t>▪  </a:t>
            </a:r>
            <a:r>
              <a:rPr sz="1700" b="1">
                <a:solidFill>
                  <a:srgbClr val="1B1F23"/>
                </a:solidFill>
                <a:latin typeface="Calibri"/>
              </a:rPr>
              <a:t>Suivi des reproducteurs difficile</a:t>
            </a:r>
            <a:r>
              <a:rPr sz="1600">
                <a:solidFill>
                  <a:srgbClr val="6B7480"/>
                </a:solidFill>
                <a:latin typeface="Calibri"/>
              </a:rPr>
              <a:t>  —  mauvaise anticipation des réformes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700" b="1">
                <a:solidFill>
                  <a:srgbClr val="C9A227"/>
                </a:solidFill>
                <a:latin typeface="Calibri"/>
              </a:rPr>
              <a:t>▪  </a:t>
            </a:r>
            <a:r>
              <a:rPr sz="1700" b="1">
                <a:solidFill>
                  <a:srgbClr val="1B1F23"/>
                </a:solidFill>
                <a:latin typeface="Calibri"/>
              </a:rPr>
              <a:t>Rentabilité en baisse</a:t>
            </a:r>
            <a:r>
              <a:rPr sz="1600">
                <a:solidFill>
                  <a:srgbClr val="6B7480"/>
                </a:solidFill>
                <a:latin typeface="Calibri"/>
              </a:rPr>
              <a:t>  —  mauvaise gestion du cycle reproductif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057400"/>
            <a:ext cx="3749039" cy="3657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35240" y="2057400"/>
            <a:ext cx="3749039" cy="457200"/>
          </a:xfrm>
          <a:prstGeom prst="round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2084831"/>
            <a:ext cx="37490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LE BESOIN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788920"/>
            <a:ext cx="310896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3315C"/>
                </a:solidFill>
                <a:latin typeface="Calibri"/>
              </a:rPr>
              <a:t>Centraliser, tracer, et aider à décider : quelles femelles garder, lesquelles réformer.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A8"/>
                </a:solidFill>
                <a:latin typeface="Calibri"/>
              </a:rPr>
              <a:t>NOTRE RÉPONSE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315C"/>
                </a:solidFill>
                <a:latin typeface="Calibri"/>
              </a:rPr>
              <a:t>La solution : MADAPORC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81328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419088"/>
            <a:ext cx="10607040" cy="182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2563A8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B1F23"/>
                </a:solidFill>
                <a:latin typeface="Calibri"/>
              </a:rPr>
              <a:t>Au-delà de l'enregistrement administratif, MADAPORC analyse et recommande. Trois piliers, repris dans son intitulé 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926080"/>
            <a:ext cx="342900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926080"/>
            <a:ext cx="3429000" cy="1280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8719" y="3246120"/>
            <a:ext cx="548640" cy="548640"/>
          </a:xfrm>
          <a:prstGeom prst="ellipse">
            <a:avLst/>
          </a:prstGeom>
          <a:solidFill>
            <a:srgbClr val="DBE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19" y="32461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A8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3977639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13315C"/>
                </a:solidFill>
                <a:latin typeface="Calibri"/>
              </a:rPr>
              <a:t>Suivi &amp; Traçabilité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8920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480"/>
                </a:solidFill>
                <a:latin typeface="Calibri"/>
              </a:rPr>
              <a:t>Tout le cycle de vie du lot, historisé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2926080"/>
            <a:ext cx="342900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2926080"/>
            <a:ext cx="3429000" cy="1280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37759" y="3246120"/>
            <a:ext cx="548640" cy="548640"/>
          </a:xfrm>
          <a:prstGeom prst="ellipse">
            <a:avLst/>
          </a:prstGeom>
          <a:solidFill>
            <a:srgbClr val="DBE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32461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A8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3977639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13315C"/>
                </a:solidFill>
                <a:latin typeface="Calibri"/>
              </a:rPr>
              <a:t>Aide à la décision
reproductive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48920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480"/>
                </a:solidFill>
                <a:latin typeface="Calibri"/>
              </a:rPr>
              <a:t>Analyse automatique de l'aptitude des femelles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59" y="2926080"/>
            <a:ext cx="342900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66759" y="2926080"/>
            <a:ext cx="3429000" cy="1280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799" y="3246120"/>
            <a:ext cx="548640" cy="548640"/>
          </a:xfrm>
          <a:prstGeom prst="ellipse">
            <a:avLst/>
          </a:prstGeom>
          <a:solidFill>
            <a:srgbClr val="DBE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799" y="32461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A8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799" y="3977639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13315C"/>
                </a:solidFill>
                <a:latin typeface="Calibri"/>
              </a:rPr>
              <a:t>Pilotage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799" y="48920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480"/>
                </a:solidFill>
                <a:latin typeface="Calibri"/>
              </a:rPr>
              <a:t>Tableau de bord, alertes et rapports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A8"/>
                </a:solidFill>
                <a:latin typeface="Calibri"/>
              </a:rPr>
              <a:t>PÉRIMÈTRE FONCTIONNEL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315C"/>
                </a:solidFill>
                <a:latin typeface="Calibri"/>
              </a:rPr>
              <a:t>Les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81328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419088"/>
            <a:ext cx="10607040" cy="182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2563A8"/>
                </a:solidFill>
                <a:latin typeface="Calibri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965960"/>
            <a:ext cx="109728" cy="1737360"/>
          </a:xfrm>
          <a:prstGeom prst="round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221991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3315C"/>
                </a:solidFill>
                <a:latin typeface="Calibri"/>
              </a:rPr>
              <a:t>Cheptel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752344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480"/>
                </a:solidFill>
                <a:latin typeface="Calibri"/>
              </a:rPr>
              <a:t>Lots, mouvements d'effectif, pesées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6596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17720" y="1965960"/>
            <a:ext cx="109728" cy="1737360"/>
          </a:xfrm>
          <a:prstGeom prst="round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221991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3315C"/>
                </a:solidFill>
                <a:latin typeface="Calibri"/>
              </a:rPr>
              <a:t>Reproduction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752344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480"/>
                </a:solidFill>
                <a:latin typeface="Calibri"/>
              </a:rPr>
              <a:t>Groupes, mise bas, analyse d'aptitude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59" y="196596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66759" y="1965960"/>
            <a:ext cx="109728" cy="1737360"/>
          </a:xfrm>
          <a:prstGeom prst="round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19" y="2221991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3315C"/>
                </a:solidFill>
                <a:latin typeface="Calibri"/>
              </a:rPr>
              <a:t>Santé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19" y="2752344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480"/>
                </a:solidFill>
                <a:latin typeface="Calibri"/>
              </a:rPr>
              <a:t>Vaccinations, rappels, suivi sanitaire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977639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3977639"/>
            <a:ext cx="109728" cy="1737360"/>
          </a:xfrm>
          <a:prstGeom prst="round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423367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3315C"/>
                </a:solidFill>
                <a:latin typeface="Calibri"/>
              </a:rPr>
              <a:t>Commerce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764024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480"/>
                </a:solidFill>
                <a:latin typeface="Calibri"/>
              </a:rPr>
              <a:t>Clients, ventes, reçus PDF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3977639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17720" y="3977639"/>
            <a:ext cx="109728" cy="1737360"/>
          </a:xfrm>
          <a:prstGeom prst="round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423367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3315C"/>
                </a:solidFill>
                <a:latin typeface="Calibri"/>
              </a:rPr>
              <a:t>Stocks &amp; Finance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764024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480"/>
                </a:solidFill>
                <a:latin typeface="Calibri"/>
              </a:rPr>
              <a:t>Ingrédients, dépenses, rapports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59" y="3977639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66759" y="3977639"/>
            <a:ext cx="109728" cy="1737360"/>
          </a:xfrm>
          <a:prstGeom prst="round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19" y="423367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3315C"/>
                </a:solidFill>
                <a:latin typeface="Calibri"/>
              </a:rPr>
              <a:t>Tableau de bord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19" y="4764024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480"/>
                </a:solidFill>
                <a:latin typeface="Calibri"/>
              </a:rPr>
              <a:t>Indicateurs, graphes, alertes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A8"/>
                </a:solidFill>
                <a:latin typeface="Calibri"/>
              </a:rPr>
              <a:t>LE CŒUR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315C"/>
                </a:solidFill>
                <a:latin typeface="Calibri"/>
              </a:rPr>
              <a:t>Analyse reproductive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81328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419088"/>
            <a:ext cx="10607040" cy="182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2563A8"/>
                </a:solidFill>
                <a:latin typeface="Calibr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B1F23"/>
                </a:solidFill>
                <a:latin typeface="Calibri"/>
              </a:rPr>
              <a:t>Ce qui distingue MADAPORC d'un simple logiciel de gestion. Pour chaque lot de femelles, le système calcule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C9A227"/>
                </a:solidFill>
                <a:latin typeface="Calibri"/>
              </a:rPr>
              <a:t>▪  </a:t>
            </a:r>
            <a:r>
              <a:rPr sz="1550" b="1">
                <a:solidFill>
                  <a:srgbClr val="1B1F23"/>
                </a:solidFill>
                <a:latin typeface="Calibri"/>
              </a:rPr>
              <a:t>Âge reproductif réel (bornes par race)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C9A227"/>
                </a:solidFill>
                <a:latin typeface="Calibri"/>
              </a:rPr>
              <a:t>▪  </a:t>
            </a:r>
            <a:r>
              <a:rPr sz="1550" b="1">
                <a:solidFill>
                  <a:srgbClr val="1B1F23"/>
                </a:solidFill>
                <a:latin typeface="Calibri"/>
              </a:rPr>
              <a:t>Taux d'aptitude et taux de fertilité observé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C9A227"/>
                </a:solidFill>
                <a:latin typeface="Calibri"/>
              </a:rPr>
              <a:t>▪  </a:t>
            </a:r>
            <a:r>
              <a:rPr sz="1550" b="1">
                <a:solidFill>
                  <a:srgbClr val="1B1F23"/>
                </a:solidFill>
                <a:latin typeface="Calibri"/>
              </a:rPr>
              <a:t>Répartition des femelles par statut reproductif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C9A227"/>
                </a:solidFill>
                <a:latin typeface="Calibri"/>
              </a:rPr>
              <a:t>▪  </a:t>
            </a:r>
            <a:r>
              <a:rPr sz="1550" b="1">
                <a:solidFill>
                  <a:srgbClr val="1B1F23"/>
                </a:solidFill>
                <a:latin typeface="Calibri"/>
              </a:rPr>
              <a:t>Une recommandation automatique par 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965960"/>
            <a:ext cx="4343400" cy="3977639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21488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RECOMMANDATION AUTOMATIQUE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743200"/>
            <a:ext cx="3794760" cy="822960"/>
          </a:xfrm>
          <a:prstGeom prst="roundRect">
            <a:avLst/>
          </a:prstGeom>
          <a:solidFill>
            <a:srgbClr val="D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026664"/>
            <a:ext cx="256032" cy="256032"/>
          </a:xfrm>
          <a:prstGeom prst="ellipse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743200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45741"/>
                </a:solidFill>
                <a:latin typeface="Calibri"/>
              </a:rPr>
              <a:t>Apte à la reproduction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712464"/>
            <a:ext cx="3794760" cy="822960"/>
          </a:xfrm>
          <a:prstGeom prst="roundRect">
            <a:avLst/>
          </a:prstGeom>
          <a:solidFill>
            <a:srgbClr val="FDE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995928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3712464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45309"/>
                </a:solidFill>
                <a:latin typeface="Calibri"/>
              </a:rPr>
              <a:t>À surveiller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4681728"/>
            <a:ext cx="3794760" cy="822960"/>
          </a:xfrm>
          <a:prstGeom prst="roundRect">
            <a:avLst/>
          </a:prstGeom>
          <a:solidFill>
            <a:srgbClr val="FD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96519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4681728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91C1C"/>
                </a:solidFill>
                <a:latin typeface="Calibri"/>
              </a:rPr>
              <a:t>Réforme recommandée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650992"/>
            <a:ext cx="10561320" cy="658368"/>
          </a:xfrm>
          <a:prstGeom prst="round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650992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Basée sur les bornes d'âge par race et l'historique des groupes : l'éleveur sait quelles femelles garder ou réformer — pour améliorer la productivité.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A8"/>
                </a:solidFill>
                <a:latin typeface="Calibri"/>
              </a:rPr>
              <a:t>CYCLE DE VIE &amp; TRAÇABILITÉ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315C"/>
                </a:solidFill>
                <a:latin typeface="Calibri"/>
              </a:rPr>
              <a:t>Le parcours métier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81328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419088"/>
            <a:ext cx="10607040" cy="182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2563A8"/>
                </a:solidFill>
                <a:latin typeface="Calibri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06040"/>
            <a:ext cx="1938528" cy="1143000"/>
          </a:xfrm>
          <a:prstGeom prst="roundRect">
            <a:avLst/>
          </a:prstGeom>
          <a:solidFill>
            <a:srgbClr val="2563A8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175564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Lot de porcs</a:t>
            </a:r>
          </a:p>
        </p:txBody>
      </p:sp>
      <p:sp>
        <p:nvSpPr>
          <p:cNvPr id="12" name="Chevron 11"/>
          <p:cNvSpPr/>
          <p:nvPr/>
        </p:nvSpPr>
        <p:spPr>
          <a:xfrm>
            <a:off x="2834640" y="3008376"/>
            <a:ext cx="173735" cy="329184"/>
          </a:xfrm>
          <a:prstGeom prst="chevron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35807" y="2606040"/>
            <a:ext cx="1938528" cy="1143000"/>
          </a:xfrm>
          <a:prstGeom prst="roundRect">
            <a:avLst/>
          </a:prstGeom>
          <a:solidFill>
            <a:srgbClr val="2563A8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7" y="2606040"/>
            <a:ext cx="175564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Reproduction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5001768" y="3008376"/>
            <a:ext cx="173735" cy="329184"/>
          </a:xfrm>
          <a:prstGeom prst="chevron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02936" y="2606040"/>
            <a:ext cx="1938528" cy="1143000"/>
          </a:xfrm>
          <a:prstGeom prst="roundRect">
            <a:avLst/>
          </a:prstGeom>
          <a:solidFill>
            <a:srgbClr val="2563A8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5" y="2606040"/>
            <a:ext cx="175564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Lots de naissance</a:t>
            </a:r>
          </a:p>
        </p:txBody>
      </p:sp>
      <p:sp>
        <p:nvSpPr>
          <p:cNvPr id="18" name="Chevron 17"/>
          <p:cNvSpPr/>
          <p:nvPr/>
        </p:nvSpPr>
        <p:spPr>
          <a:xfrm>
            <a:off x="7168896" y="3008376"/>
            <a:ext cx="173735" cy="329184"/>
          </a:xfrm>
          <a:prstGeom prst="chevron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70063" y="2606040"/>
            <a:ext cx="1938528" cy="1143000"/>
          </a:xfrm>
          <a:prstGeom prst="roundRect">
            <a:avLst/>
          </a:prstGeom>
          <a:solidFill>
            <a:srgbClr val="2563A8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1503" y="2606040"/>
            <a:ext cx="175564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Engraissement</a:t>
            </a:r>
          </a:p>
        </p:txBody>
      </p:sp>
      <p:sp>
        <p:nvSpPr>
          <p:cNvPr id="21" name="Chevron 20"/>
          <p:cNvSpPr/>
          <p:nvPr/>
        </p:nvSpPr>
        <p:spPr>
          <a:xfrm>
            <a:off x="9336024" y="3008376"/>
            <a:ext cx="173735" cy="329184"/>
          </a:xfrm>
          <a:prstGeom prst="chevron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37191" y="2606040"/>
            <a:ext cx="1938528" cy="114300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28631" y="2606040"/>
            <a:ext cx="175564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Vente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2519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3315C"/>
                </a:solidFill>
                <a:latin typeface="Calibri"/>
              </a:rPr>
              <a:t>Chaque étape est tracée et met à jour l'effectif : </a:t>
            </a:r>
            <a:r>
              <a:rPr sz="1500" b="0" i="0">
                <a:solidFill>
                  <a:srgbClr val="6B7480"/>
                </a:solidFill>
                <a:latin typeface="Calibri"/>
              </a:rPr>
              <a:t>une mise bas crée les lots de porcelets, une vente validée diminue l'effectif du lot.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029200"/>
            <a:ext cx="10561320" cy="7772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02920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3315C"/>
                </a:solidFill>
                <a:latin typeface="Calibri"/>
              </a:rPr>
              <a:t>Traçabilité complète d'un lot : mouvements, pesées, mises bas et ventes sont historisés et reliés entre eux, du premier jour à la vente.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A8"/>
                </a:solidFill>
                <a:latin typeface="Calibri"/>
              </a:rPr>
              <a:t>POINTS FORTS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315C"/>
                </a:solidFill>
                <a:latin typeface="Calibri"/>
              </a:rPr>
              <a:t>Fonctionnalités clés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81328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419088"/>
            <a:ext cx="10607040" cy="182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2563A8"/>
                </a:solidFill>
                <a:latin typeface="Calibr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200"/>
              </a:spcAft>
            </a:pPr>
            <a:r>
              <a:rPr sz="1700" b="1">
                <a:solidFill>
                  <a:srgbClr val="C9A227"/>
                </a:solidFill>
                <a:latin typeface="Calibri"/>
              </a:rPr>
              <a:t>▪  </a:t>
            </a:r>
            <a:r>
              <a:rPr sz="1700" b="1">
                <a:solidFill>
                  <a:srgbClr val="1B1F23"/>
                </a:solidFill>
                <a:latin typeface="Calibri"/>
              </a:rPr>
              <a:t>Tableau de bord visuel</a:t>
            </a:r>
            <a:r>
              <a:rPr sz="1600">
                <a:solidFill>
                  <a:srgbClr val="6B7480"/>
                </a:solidFill>
                <a:latin typeface="Calibri"/>
              </a:rPr>
              <a:t>  —  graphes cheptel, finances, reproduction</a:t>
            </a:r>
          </a:p>
          <a:p>
            <a:pPr>
              <a:lnSpc>
                <a:spcPct val="105000"/>
              </a:lnSpc>
              <a:spcAft>
                <a:spcPts val="4200"/>
              </a:spcAft>
            </a:pPr>
            <a:r>
              <a:rPr sz="1700" b="1">
                <a:solidFill>
                  <a:srgbClr val="C9A227"/>
                </a:solidFill>
                <a:latin typeface="Calibri"/>
              </a:rPr>
              <a:t>▪  </a:t>
            </a:r>
            <a:r>
              <a:rPr sz="1700" b="1">
                <a:solidFill>
                  <a:srgbClr val="1B1F23"/>
                </a:solidFill>
                <a:latin typeface="Calibri"/>
              </a:rPr>
              <a:t>Alertes de reproduction</a:t>
            </a:r>
            <a:r>
              <a:rPr sz="1600">
                <a:solidFill>
                  <a:srgbClr val="6B7480"/>
                </a:solidFill>
                <a:latin typeface="Calibri"/>
              </a:rPr>
              <a:t>  —  mises bas proches / en retard + e-mail</a:t>
            </a:r>
          </a:p>
          <a:p>
            <a:pPr>
              <a:lnSpc>
                <a:spcPct val="105000"/>
              </a:lnSpc>
              <a:spcAft>
                <a:spcPts val="4200"/>
              </a:spcAft>
            </a:pPr>
            <a:r>
              <a:rPr sz="1700" b="1">
                <a:solidFill>
                  <a:srgbClr val="C9A227"/>
                </a:solidFill>
                <a:latin typeface="Calibri"/>
              </a:rPr>
              <a:t>▪  </a:t>
            </a:r>
            <a:r>
              <a:rPr sz="1700" b="1">
                <a:solidFill>
                  <a:srgbClr val="1B1F23"/>
                </a:solidFill>
                <a:latin typeface="Calibri"/>
              </a:rPr>
              <a:t>Notifications temps réel</a:t>
            </a:r>
            <a:r>
              <a:rPr sz="1600">
                <a:solidFill>
                  <a:srgbClr val="6B7480"/>
                </a:solidFill>
                <a:latin typeface="Calibri"/>
              </a:rPr>
              <a:t>  —  toasts sur toutes les pages (SSE)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51460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200"/>
              </a:spcAft>
            </a:pPr>
            <a:r>
              <a:rPr sz="1700" b="1">
                <a:solidFill>
                  <a:srgbClr val="C9A227"/>
                </a:solidFill>
                <a:latin typeface="Calibri"/>
              </a:rPr>
              <a:t>▪  </a:t>
            </a:r>
            <a:r>
              <a:rPr sz="1700" b="1">
                <a:solidFill>
                  <a:srgbClr val="1B1F23"/>
                </a:solidFill>
                <a:latin typeface="Calibri"/>
              </a:rPr>
              <a:t>Import / Export</a:t>
            </a:r>
            <a:r>
              <a:rPr sz="1600">
                <a:solidFill>
                  <a:srgbClr val="6B7480"/>
                </a:solidFill>
                <a:latin typeface="Calibri"/>
              </a:rPr>
              <a:t>  —  via la logique métier, rapport de rejets</a:t>
            </a:r>
          </a:p>
          <a:p>
            <a:pPr>
              <a:lnSpc>
                <a:spcPct val="105000"/>
              </a:lnSpc>
              <a:spcAft>
                <a:spcPts val="4200"/>
              </a:spcAft>
            </a:pPr>
            <a:r>
              <a:rPr sz="1700" b="1">
                <a:solidFill>
                  <a:srgbClr val="C9A227"/>
                </a:solidFill>
                <a:latin typeface="Calibri"/>
              </a:rPr>
              <a:t>▪  </a:t>
            </a:r>
            <a:r>
              <a:rPr sz="1700" b="1">
                <a:solidFill>
                  <a:srgbClr val="1B1F23"/>
                </a:solidFill>
                <a:latin typeface="Calibri"/>
              </a:rPr>
              <a:t>Rapports PDF</a:t>
            </a:r>
            <a:r>
              <a:rPr sz="1600">
                <a:solidFill>
                  <a:srgbClr val="6B7480"/>
                </a:solidFill>
                <a:latin typeface="Calibri"/>
              </a:rPr>
              <a:t>  —  sanitaire, financier, commercial, reproduction</a:t>
            </a:r>
          </a:p>
          <a:p>
            <a:pPr>
              <a:lnSpc>
                <a:spcPct val="105000"/>
              </a:lnSpc>
              <a:spcAft>
                <a:spcPts val="4200"/>
              </a:spcAft>
            </a:pPr>
            <a:r>
              <a:rPr sz="1700" b="1">
                <a:solidFill>
                  <a:srgbClr val="C9A227"/>
                </a:solidFill>
                <a:latin typeface="Calibri"/>
              </a:rPr>
              <a:t>▪  </a:t>
            </a:r>
            <a:r>
              <a:rPr sz="1700" b="1">
                <a:solidFill>
                  <a:srgbClr val="1B1F23"/>
                </a:solidFill>
                <a:latin typeface="Calibri"/>
              </a:rPr>
              <a:t>Traçabilité &amp; recherche</a:t>
            </a:r>
            <a:r>
              <a:rPr sz="1600">
                <a:solidFill>
                  <a:srgbClr val="6B7480"/>
                </a:solidFill>
                <a:latin typeface="Calibri"/>
              </a:rPr>
              <a:t>  —  historique, filtres, intervalles, tri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A8"/>
                </a:solidFill>
                <a:latin typeface="Calibri"/>
              </a:rPr>
              <a:t>SOUS LE CAPOT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315C"/>
                </a:solidFill>
                <a:latin typeface="Calibri"/>
              </a:rPr>
              <a:t>Architecture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81328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419088"/>
            <a:ext cx="10607040" cy="182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2563A8"/>
                </a:solidFill>
                <a:latin typeface="Calibri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057400"/>
            <a:ext cx="7315200" cy="1143000"/>
          </a:xfrm>
          <a:prstGeom prst="roundRect">
            <a:avLst/>
          </a:prstGeom>
          <a:solidFill>
            <a:srgbClr val="2563A8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2402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Présentation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15768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BE6FE"/>
                </a:solidFill>
                <a:latin typeface="Calibri"/>
              </a:rPr>
              <a:t>JSP / JSTL + CSS — interface web responsive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83280"/>
            <a:ext cx="7315200" cy="1143000"/>
          </a:xfrm>
          <a:prstGeom prst="roundRect">
            <a:avLst/>
          </a:prstGeom>
          <a:solidFill>
            <a:srgbClr val="13315C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56616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Traitement (métier)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041648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BE6FE"/>
                </a:solidFill>
                <a:latin typeface="Calibri"/>
              </a:rPr>
              <a:t>Spring Boot MVC — 24 contrôleurs, 30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709160"/>
            <a:ext cx="7315200" cy="1143000"/>
          </a:xfrm>
          <a:prstGeom prst="roundRect">
            <a:avLst/>
          </a:prstGeom>
          <a:solidFill>
            <a:srgbClr val="1C4A7E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89204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Données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67528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BE6FE"/>
                </a:solidFill>
                <a:latin typeface="Calibri"/>
              </a:rPr>
              <a:t>PostgreSQL via Spring Data JPA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2057400"/>
            <a:ext cx="2926080" cy="379476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58200" y="2057400"/>
            <a:ext cx="2926080" cy="45720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075688"/>
            <a:ext cx="2926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TRANSVERSES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24688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▪  </a:t>
            </a:r>
            <a:r>
              <a:rPr sz="1250" b="1">
                <a:solidFill>
                  <a:srgbClr val="1B1F23"/>
                </a:solidFill>
                <a:latin typeface="Calibri"/>
              </a:rPr>
              <a:t>Authentification par session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▪  </a:t>
            </a:r>
            <a:r>
              <a:rPr sz="1250" b="1">
                <a:solidFill>
                  <a:srgbClr val="1B1F23"/>
                </a:solidFill>
                <a:latin typeface="Calibri"/>
              </a:rPr>
              <a:t>Rôles Admin / Gestionnaire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▪  </a:t>
            </a:r>
            <a:r>
              <a:rPr sz="1250" b="1">
                <a:solidFill>
                  <a:srgbClr val="1B1F23"/>
                </a:solidFill>
                <a:latin typeface="Calibri"/>
              </a:rPr>
              <a:t>Notifications SSE + e-mail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▪  </a:t>
            </a:r>
            <a:r>
              <a:rPr sz="1250" b="1">
                <a:solidFill>
                  <a:srgbClr val="1B1F23"/>
                </a:solidFill>
                <a:latin typeface="Calibri"/>
              </a:rPr>
              <a:t>Tâches planifiées (alertes)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C9A227"/>
                </a:solidFill>
                <a:latin typeface="Calibri"/>
              </a:rPr>
              <a:t>▪  </a:t>
            </a:r>
            <a:r>
              <a:rPr sz="1250" b="1">
                <a:solidFill>
                  <a:srgbClr val="1B1F23"/>
                </a:solidFill>
                <a:latin typeface="Calibri"/>
              </a:rPr>
              <a:t>Gestion globale des erreurs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A8"/>
                </a:solidFill>
                <a:latin typeface="Calibri"/>
              </a:rPr>
              <a:t>EN DIRECT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315C"/>
                </a:solidFill>
                <a:latin typeface="Calibri"/>
              </a:rPr>
              <a:t>Démonstration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81328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419088"/>
            <a:ext cx="10607040" cy="182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2563A8"/>
                </a:solidFill>
                <a:latin typeface="Calibri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1F23"/>
                </a:solidFill>
                <a:latin typeface="Calibri"/>
              </a:rPr>
              <a:t>Scénario suivi pendant la démo :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14600"/>
            <a:ext cx="9875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B1F23"/>
                </a:solidFill>
                <a:latin typeface="Calibri"/>
              </a:rPr>
              <a:t>Création d'un lot et saisie du poids de départ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246120"/>
            <a:ext cx="457200" cy="457200"/>
          </a:xfrm>
          <a:prstGeom prst="ellipse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46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46120"/>
            <a:ext cx="9875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B1F23"/>
                </a:solidFill>
                <a:latin typeface="Calibri"/>
              </a:rPr>
              <a:t>Groupe de reproduction, puis confirmation de la mise bas (lots de naissance auto-créés)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977639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776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77639"/>
            <a:ext cx="9875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3315C"/>
                </a:solidFill>
                <a:latin typeface="Calibri"/>
              </a:rPr>
              <a:t>Analyse reproductive : recommandation Apte / À surveiller / Réforme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709160"/>
            <a:ext cx="457200" cy="457200"/>
          </a:xfrm>
          <a:prstGeom prst="ellipse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091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09160"/>
            <a:ext cx="9875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B1F23"/>
                </a:solidFill>
                <a:latin typeface="Calibri"/>
              </a:rPr>
              <a:t>Vente à un client et reçu PDF ; tableau de bord mis à jour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5440680"/>
            <a:ext cx="457200" cy="457200"/>
          </a:xfrm>
          <a:prstGeom prst="ellipse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40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440680"/>
            <a:ext cx="9875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B1F23"/>
                </a:solidFill>
                <a:latin typeface="Calibri"/>
              </a:rPr>
              <a:t>Import de données (rapport de rejets) et export d'un rapport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A8"/>
                </a:solidFill>
                <a:latin typeface="Calibri"/>
              </a:rPr>
              <a:t>POUR FINIR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315C"/>
                </a:solidFill>
                <a:latin typeface="Calibri"/>
              </a:rPr>
              <a:t>Conclusion &amp; perspectives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81328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419088"/>
            <a:ext cx="10607040" cy="182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2563A8"/>
                </a:solidFill>
                <a:latin typeface="Calibr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011680"/>
            <a:ext cx="5212080" cy="3749039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2402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3315C"/>
                </a:solidFill>
                <a:latin typeface="Calibri"/>
              </a:rPr>
              <a:t>Ce qui est en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88920"/>
            <a:ext cx="4663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>
                <a:solidFill>
                  <a:srgbClr val="1B1F23"/>
                </a:solidFill>
                <a:latin typeface="Calibri"/>
              </a:rPr>
              <a:t>Traçabilité complète du lot à la vente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>
                <a:solidFill>
                  <a:srgbClr val="1B1F23"/>
                </a:solidFill>
                <a:latin typeface="Calibri"/>
              </a:rPr>
              <a:t>Recommandation reproductive automatique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>
                <a:solidFill>
                  <a:srgbClr val="1B1F23"/>
                </a:solidFill>
                <a:latin typeface="Calibri"/>
              </a:rPr>
              <a:t>Alertes, rapports et tableau de bord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>
                <a:solidFill>
                  <a:srgbClr val="1B1F23"/>
                </a:solidFill>
                <a:latin typeface="Calibri"/>
              </a:rPr>
              <a:t>Application fonctionnelle et testée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011680"/>
            <a:ext cx="4983480" cy="3749039"/>
          </a:xfrm>
          <a:prstGeom prst="round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4028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Calibri"/>
              </a:rPr>
              <a:t>Perspectives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8892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Version mobile pour la saisie terrain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Gestion multi-élevages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Statistiques prédictives (rendement)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Export comptable et sauvegardes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0350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3315C"/>
                </a:solidFill>
                <a:latin typeface="Calibri"/>
              </a:rPr>
              <a:t>Merci de votre attention.</a:t>
            </a:r>
            <a:r>
              <a:rPr sz="1600" b="0" i="0">
                <a:solidFill>
                  <a:srgbClr val="6B7480"/>
                </a:solidFill>
                <a:latin typeface="Calibri"/>
              </a:rPr>
              <a:t>   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